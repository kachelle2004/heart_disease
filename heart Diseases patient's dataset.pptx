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15"/>
  </p:notesMasterIdLst>
  <p:handoutMasterIdLst>
    <p:handoutMasterId r:id="rId16"/>
  </p:handoutMasterIdLst>
  <p:sldIdLst>
    <p:sldId id="256" r:id="rId5"/>
    <p:sldId id="292" r:id="rId6"/>
    <p:sldId id="266" r:id="rId7"/>
    <p:sldId id="293" r:id="rId8"/>
    <p:sldId id="299" r:id="rId9"/>
    <p:sldId id="294" r:id="rId10"/>
    <p:sldId id="295" r:id="rId11"/>
    <p:sldId id="298" r:id="rId12"/>
    <p:sldId id="296" r:id="rId13"/>
    <p:sldId id="29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96A0B3-012B-4CEB-A644-B212F9083537}" v="27" dt="2025-12-23T04:31:12.741"/>
  </p1510:revLst>
</p1510:revInfo>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085" autoAdjust="0"/>
  </p:normalViewPr>
  <p:slideViewPr>
    <p:cSldViewPr snapToGrid="0" showGuides="1">
      <p:cViewPr varScale="1">
        <p:scale>
          <a:sx n="43" d="100"/>
          <a:sy n="43" d="100"/>
        </p:scale>
        <p:origin x="1536" y="48"/>
      </p:cViewPr>
      <p:guideLst/>
    </p:cSldViewPr>
  </p:slideViewPr>
  <p:outlineViewPr>
    <p:cViewPr>
      <p:scale>
        <a:sx n="33" d="100"/>
        <a:sy n="33" d="100"/>
      </p:scale>
      <p:origin x="0" y="-498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12/23/2025</a:t>
            </a:fld>
            <a:endParaRPr lang="en-US" dirty="0"/>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dirty="0"/>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12/23/2025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dirty="0"/>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dirty="0"/>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dirty="0"/>
          </a:p>
        </p:txBody>
      </p:sp>
    </p:spTree>
    <p:extLst>
      <p:ext uri="{BB962C8B-B14F-4D97-AF65-F5344CB8AC3E}">
        <p14:creationId xmlns:p14="http://schemas.microsoft.com/office/powerpoint/2010/main" val="972850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correlation heatmap, it is possible to identify any linear relationship between each variable. From the above, we can see that the relationship between chest pain and patients who have heart disease is about 0.43. In contrast, clogged arteries have an inverse relationship of -0.41. </a:t>
            </a:r>
          </a:p>
          <a:p>
            <a:r>
              <a:rPr lang="en-US" dirty="0"/>
              <a:t>Therefore, several variables, including cholesterol level, age, and chest pain, were selected and further examined in relation to the target variable, which represents whether a patient has heart disease.</a:t>
            </a:r>
          </a:p>
        </p:txBody>
      </p:sp>
      <p:sp>
        <p:nvSpPr>
          <p:cNvPr id="4" name="Slide Number Placeholder 3"/>
          <p:cNvSpPr>
            <a:spLocks noGrp="1"/>
          </p:cNvSpPr>
          <p:nvPr>
            <p:ph type="sldNum" sz="quarter" idx="5"/>
          </p:nvPr>
        </p:nvSpPr>
        <p:spPr/>
        <p:txBody>
          <a:bodyPr/>
          <a:lstStyle/>
          <a:p>
            <a:fld id="{B63359F2-43EF-4812-9DC0-98C0B1A40681}" type="slidenum">
              <a:rPr lang="en-US" smtClean="0"/>
              <a:t>3</a:t>
            </a:fld>
            <a:endParaRPr lang="en-US" dirty="0"/>
          </a:p>
        </p:txBody>
      </p:sp>
    </p:spTree>
    <p:extLst>
      <p:ext uri="{BB962C8B-B14F-4D97-AF65-F5344CB8AC3E}">
        <p14:creationId xmlns:p14="http://schemas.microsoft.com/office/powerpoint/2010/main" val="3946574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We examine the age distribution and see how it is spread out in this dataset. On the histogram, you can see that the age group between 50 and 60 has the highest frequency of patients, followed by the age group between 60 and 70. </a:t>
            </a:r>
          </a:p>
          <a:p>
            <a:endParaRPr lang="en-SG" dirty="0"/>
          </a:p>
          <a:p>
            <a:r>
              <a:rPr lang="en-SG" dirty="0"/>
              <a:t>Then we see a </a:t>
            </a:r>
            <a:r>
              <a:rPr lang="en-US" dirty="0"/>
              <a:t>scatter plot between age and heart disease, and cholesterol and heart disease, and found that there are two horizontal lines</a:t>
            </a:r>
            <a:r>
              <a:rPr lang="en-SG" dirty="0"/>
              <a:t> between these variables. So it show that those who have heart disease( represented by 1) have a range of age group. In addition, those who have heart disease have a range of 200 to 350 mg/dl of cholesterol.</a:t>
            </a:r>
          </a:p>
          <a:p>
            <a:endParaRPr lang="en-SG" dirty="0"/>
          </a:p>
          <a:p>
            <a:r>
              <a:rPr lang="en-SG" dirty="0"/>
              <a:t>Also seeing this kind of scatter plot for the variable of age and cholesterol VS heart disease, I will use logistical regression to predict if the model could identify certain variable/symptoms equate to the illness.</a:t>
            </a:r>
          </a:p>
          <a:p>
            <a:endParaRPr lang="en-SG" dirty="0"/>
          </a:p>
        </p:txBody>
      </p:sp>
      <p:sp>
        <p:nvSpPr>
          <p:cNvPr id="4" name="Slide Number Placeholder 3"/>
          <p:cNvSpPr>
            <a:spLocks noGrp="1"/>
          </p:cNvSpPr>
          <p:nvPr>
            <p:ph type="sldNum" sz="quarter" idx="5"/>
          </p:nvPr>
        </p:nvSpPr>
        <p:spPr/>
        <p:txBody>
          <a:bodyPr/>
          <a:lstStyle/>
          <a:p>
            <a:fld id="{B63359F2-43EF-4812-9DC0-98C0B1A40681}" type="slidenum">
              <a:rPr lang="en-US" smtClean="0"/>
              <a:t>4</a:t>
            </a:fld>
            <a:endParaRPr lang="en-US" dirty="0"/>
          </a:p>
        </p:txBody>
      </p:sp>
    </p:spTree>
    <p:extLst>
      <p:ext uri="{BB962C8B-B14F-4D97-AF65-F5344CB8AC3E}">
        <p14:creationId xmlns:p14="http://schemas.microsoft.com/office/powerpoint/2010/main" val="1558744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5AA07-7665-D403-D1A4-423DF0CDC7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A8886-E3B9-376C-2838-056E8E3586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2004F-3783-B233-487C-0E007108BF74}"/>
              </a:ext>
            </a:extLst>
          </p:cNvPr>
          <p:cNvSpPr>
            <a:spLocks noGrp="1"/>
          </p:cNvSpPr>
          <p:nvPr>
            <p:ph type="body" idx="1"/>
          </p:nvPr>
        </p:nvSpPr>
        <p:spPr/>
        <p:txBody>
          <a:bodyPr/>
          <a:lstStyle/>
          <a:p>
            <a:endParaRPr lang="en-SG" dirty="0"/>
          </a:p>
          <a:p>
            <a:r>
              <a:rPr lang="en-SG" dirty="0"/>
              <a:t>On the </a:t>
            </a:r>
            <a:r>
              <a:rPr lang="en-US" dirty="0"/>
              <a:t>scatter plot between chest pain, clogged arteries, and cholesterol, we found that there are two horizontal lines</a:t>
            </a:r>
            <a:r>
              <a:rPr lang="en-SG" dirty="0"/>
              <a:t> between these variables. So it shows that those who have heart disease( represented by 1) have a range of age groups. In addition, those who have heart disease have a range of 200 to 350 mg/dl of cholesterol.</a:t>
            </a:r>
          </a:p>
          <a:p>
            <a:endParaRPr lang="en-SG" dirty="0"/>
          </a:p>
          <a:p>
            <a:r>
              <a:rPr lang="en-SG" dirty="0"/>
              <a:t>Also seeing this kind of scatter plot for the variable of age and cholesterol VS heart disease, I will use logistical regression to predict if the model could identify certain variable/symptoms equate to the illness.</a:t>
            </a:r>
          </a:p>
          <a:p>
            <a:endParaRPr lang="en-SG" dirty="0"/>
          </a:p>
        </p:txBody>
      </p:sp>
      <p:sp>
        <p:nvSpPr>
          <p:cNvPr id="4" name="Slide Number Placeholder 3">
            <a:extLst>
              <a:ext uri="{FF2B5EF4-FFF2-40B4-BE49-F238E27FC236}">
                <a16:creationId xmlns:a16="http://schemas.microsoft.com/office/drawing/2014/main" id="{3D93F4EC-D246-EC9D-4A25-85665B8A86D4}"/>
              </a:ext>
            </a:extLst>
          </p:cNvPr>
          <p:cNvSpPr>
            <a:spLocks noGrp="1"/>
          </p:cNvSpPr>
          <p:nvPr>
            <p:ph type="sldNum" sz="quarter" idx="5"/>
          </p:nvPr>
        </p:nvSpPr>
        <p:spPr/>
        <p:txBody>
          <a:bodyPr/>
          <a:lstStyle/>
          <a:p>
            <a:fld id="{B63359F2-43EF-4812-9DC0-98C0B1A40681}" type="slidenum">
              <a:rPr lang="en-US" smtClean="0"/>
              <a:t>5</a:t>
            </a:fld>
            <a:endParaRPr lang="en-US" dirty="0"/>
          </a:p>
        </p:txBody>
      </p:sp>
    </p:spTree>
    <p:extLst>
      <p:ext uri="{BB962C8B-B14F-4D97-AF65-F5344CB8AC3E}">
        <p14:creationId xmlns:p14="http://schemas.microsoft.com/office/powerpoint/2010/main" val="3097598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From the left  diagram, it is a confuse matrix for the variable cholesterol vs heart disease. So you can see that the accuracy only 47.2% which mean this model can only identify only 42% correct patient who have high cholesterol and is a heart disease. </a:t>
            </a:r>
            <a:r>
              <a:rPr lang="en-SG" dirty="0" err="1"/>
              <a:t>trueAnd</a:t>
            </a:r>
            <a:r>
              <a:rPr lang="en-SG" dirty="0"/>
              <a:t> it has a recall of 97.6 mean that  it can correctly identify patient who have heart disease but may also have an error of identify patients who does not have heart disease as a positive case. In addition this prove that the model only have some significant prediction that people who have high cholesterol may have heart disease.</a:t>
            </a:r>
          </a:p>
          <a:p>
            <a:endParaRPr lang="en-SG" dirty="0"/>
          </a:p>
          <a:p>
            <a:r>
              <a:rPr lang="en-SG" dirty="0"/>
              <a:t>While for the right diagram, it show the confuse matrix of chest pain against heart diseases. So it clearly show a higher accuracy and precision ( about 70% ) which show that this model can correctly identify patient have chest pain and is a heart disease patient. But ironically it have a lower recall rate ( about 67%) which indicate that  the model is about 67% in </a:t>
            </a:r>
            <a:r>
              <a:rPr lang="en-SG" dirty="0" err="1"/>
              <a:t>prediciting</a:t>
            </a:r>
            <a:r>
              <a:rPr lang="en-SG" dirty="0"/>
              <a:t> a dataset of patient that have chest pain and is a heart disease patient.</a:t>
            </a:r>
          </a:p>
          <a:p>
            <a:endParaRPr lang="en-SG" dirty="0"/>
          </a:p>
          <a:p>
            <a:r>
              <a:rPr lang="en-SG" dirty="0"/>
              <a:t>So for this data set I believe is to correctly identify patients have heart diseases and show certain sign ( </a:t>
            </a:r>
            <a:r>
              <a:rPr lang="en-SG" dirty="0" err="1"/>
              <a:t>ie</a:t>
            </a:r>
            <a:r>
              <a:rPr lang="en-SG" dirty="0"/>
              <a:t> chest pain, high cholesterol) so I believe a high recall will be a good model as to identify patient with the disease. </a:t>
            </a:r>
          </a:p>
        </p:txBody>
      </p:sp>
      <p:sp>
        <p:nvSpPr>
          <p:cNvPr id="4" name="Slide Number Placeholder 3"/>
          <p:cNvSpPr>
            <a:spLocks noGrp="1"/>
          </p:cNvSpPr>
          <p:nvPr>
            <p:ph type="sldNum" sz="quarter" idx="5"/>
          </p:nvPr>
        </p:nvSpPr>
        <p:spPr/>
        <p:txBody>
          <a:bodyPr/>
          <a:lstStyle/>
          <a:p>
            <a:fld id="{B63359F2-43EF-4812-9DC0-98C0B1A40681}" type="slidenum">
              <a:rPr lang="en-US" smtClean="0"/>
              <a:t>6</a:t>
            </a:fld>
            <a:endParaRPr lang="en-US" dirty="0"/>
          </a:p>
        </p:txBody>
      </p:sp>
    </p:spTree>
    <p:extLst>
      <p:ext uri="{BB962C8B-B14F-4D97-AF65-F5344CB8AC3E}">
        <p14:creationId xmlns:p14="http://schemas.microsoft.com/office/powerpoint/2010/main" val="1591185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Similar to the above side.. For the variable major vessel clog has a higher identification of patients . As the recall have an rating of 95.3% despite have the accuracy and precision in correctly identify patient at 65.9 and 58.5% respectively. </a:t>
            </a:r>
          </a:p>
          <a:p>
            <a:endParaRPr lang="en-SG" dirty="0"/>
          </a:p>
          <a:p>
            <a:endParaRPr lang="en-SG" dirty="0"/>
          </a:p>
        </p:txBody>
      </p:sp>
      <p:sp>
        <p:nvSpPr>
          <p:cNvPr id="4" name="Slide Number Placeholder 3"/>
          <p:cNvSpPr>
            <a:spLocks noGrp="1"/>
          </p:cNvSpPr>
          <p:nvPr>
            <p:ph type="sldNum" sz="quarter" idx="5"/>
          </p:nvPr>
        </p:nvSpPr>
        <p:spPr/>
        <p:txBody>
          <a:bodyPr/>
          <a:lstStyle/>
          <a:p>
            <a:fld id="{B63359F2-43EF-4812-9DC0-98C0B1A40681}" type="slidenum">
              <a:rPr lang="en-US" smtClean="0"/>
              <a:t>7</a:t>
            </a:fld>
            <a:endParaRPr lang="en-US" dirty="0"/>
          </a:p>
        </p:txBody>
      </p:sp>
    </p:spTree>
    <p:extLst>
      <p:ext uri="{BB962C8B-B14F-4D97-AF65-F5344CB8AC3E}">
        <p14:creationId xmlns:p14="http://schemas.microsoft.com/office/powerpoint/2010/main" val="14652759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B63359F2-43EF-4812-9DC0-98C0B1A40681}" type="slidenum">
              <a:rPr lang="en-US" smtClean="0"/>
              <a:t>8</a:t>
            </a:fld>
            <a:endParaRPr lang="en-US" dirty="0"/>
          </a:p>
        </p:txBody>
      </p:sp>
    </p:spTree>
    <p:extLst>
      <p:ext uri="{BB962C8B-B14F-4D97-AF65-F5344CB8AC3E}">
        <p14:creationId xmlns:p14="http://schemas.microsoft.com/office/powerpoint/2010/main" val="2482622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B63359F2-43EF-4812-9DC0-98C0B1A40681}" type="slidenum">
              <a:rPr lang="en-US" smtClean="0"/>
              <a:t>10</a:t>
            </a:fld>
            <a:endParaRPr lang="en-US" dirty="0"/>
          </a:p>
        </p:txBody>
      </p:sp>
    </p:spTree>
    <p:extLst>
      <p:ext uri="{BB962C8B-B14F-4D97-AF65-F5344CB8AC3E}">
        <p14:creationId xmlns:p14="http://schemas.microsoft.com/office/powerpoint/2010/main" val="3696986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6615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5957535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01489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86149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49155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329753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320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98907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5864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87330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3988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dirty="0"/>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22281959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26BD44-2224-46FF-A4E7-9C9FFE19726B}"/>
              </a:ext>
            </a:extLst>
          </p:cNvPr>
          <p:cNvSpPr>
            <a:spLocks noGrp="1"/>
          </p:cNvSpPr>
          <p:nvPr>
            <p:ph type="title"/>
          </p:nvPr>
        </p:nvSpPr>
        <p:spPr>
          <a:xfrm>
            <a:off x="457200" y="640079"/>
            <a:ext cx="3657600" cy="2100851"/>
          </a:xfrm>
        </p:spPr>
        <p:txBody>
          <a:bodyPr>
            <a:noAutofit/>
          </a:bodyPr>
          <a:lstStyle>
            <a:lvl1pPr>
              <a:defRPr/>
            </a:lvl1pPr>
          </a:lstStyle>
          <a:p>
            <a:r>
              <a:rPr lang="en-US"/>
              <a:t>Click to edit Master title style</a:t>
            </a:r>
            <a:endParaRPr lang="en-US" dirty="0"/>
          </a:p>
        </p:txBody>
      </p:sp>
      <p:sp>
        <p:nvSpPr>
          <p:cNvPr id="2" name="Content Placeholder 5">
            <a:extLst>
              <a:ext uri="{FF2B5EF4-FFF2-40B4-BE49-F238E27FC236}">
                <a16:creationId xmlns:a16="http://schemas.microsoft.com/office/drawing/2014/main" id="{FC87D77D-2EA4-028B-1ACF-E1120CE8F0E0}"/>
              </a:ext>
            </a:extLst>
          </p:cNvPr>
          <p:cNvSpPr>
            <a:spLocks noGrp="1"/>
          </p:cNvSpPr>
          <p:nvPr>
            <p:ph sz="quarter" idx="4" hasCustomPrompt="1"/>
          </p:nvPr>
        </p:nvSpPr>
        <p:spPr>
          <a:xfrm>
            <a:off x="457201" y="2862470"/>
            <a:ext cx="3657600" cy="3510898"/>
          </a:xfrm>
        </p:spPr>
        <p:txBody>
          <a:bodyPr anchor="t" anchorCtr="0">
            <a:normAutofit/>
          </a:bodyPr>
          <a:lstStyle>
            <a:lvl1pPr marL="0" indent="0">
              <a:buNone/>
              <a:defRPr/>
            </a:lvl1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CCFA45C0-9EBE-13AF-9B5D-9D5F4BF223E0}"/>
              </a:ext>
            </a:extLst>
          </p:cNvPr>
          <p:cNvSpPr>
            <a:spLocks noGrp="1"/>
          </p:cNvSpPr>
          <p:nvPr>
            <p:ph type="pic" sz="quarter" idx="13" hasCustomPrompt="1"/>
          </p:nvPr>
        </p:nvSpPr>
        <p:spPr>
          <a:xfrm>
            <a:off x="4242815" y="640080"/>
            <a:ext cx="7491984" cy="5751576"/>
          </a:xfrm>
          <a:custGeom>
            <a:avLst/>
            <a:gdLst>
              <a:gd name="connsiteX0" fmla="*/ 3800341 w 7491984"/>
              <a:gd name="connsiteY0" fmla="*/ 0 h 5751576"/>
              <a:gd name="connsiteX1" fmla="*/ 7491984 w 7491984"/>
              <a:gd name="connsiteY1" fmla="*/ 0 h 5751576"/>
              <a:gd name="connsiteX2" fmla="*/ 7491984 w 7491984"/>
              <a:gd name="connsiteY2" fmla="*/ 5751576 h 5751576"/>
              <a:gd name="connsiteX3" fmla="*/ 3800341 w 7491984"/>
              <a:gd name="connsiteY3" fmla="*/ 5751576 h 5751576"/>
              <a:gd name="connsiteX4" fmla="*/ 0 w 7491984"/>
              <a:gd name="connsiteY4" fmla="*/ 0 h 5751576"/>
              <a:gd name="connsiteX5" fmla="*/ 3696432 w 7491984"/>
              <a:gd name="connsiteY5" fmla="*/ 0 h 5751576"/>
              <a:gd name="connsiteX6" fmla="*/ 3696432 w 7491984"/>
              <a:gd name="connsiteY6" fmla="*/ 5751576 h 5751576"/>
              <a:gd name="connsiteX7" fmla="*/ 0 w 7491984"/>
              <a:gd name="connsiteY7" fmla="*/ 5751576 h 57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1984" h="5751576">
                <a:moveTo>
                  <a:pt x="3800341" y="0"/>
                </a:moveTo>
                <a:lnTo>
                  <a:pt x="7491984" y="0"/>
                </a:lnTo>
                <a:lnTo>
                  <a:pt x="7491984" y="5751576"/>
                </a:lnTo>
                <a:lnTo>
                  <a:pt x="3800341" y="5751576"/>
                </a:lnTo>
                <a:close/>
                <a:moveTo>
                  <a:pt x="0" y="0"/>
                </a:moveTo>
                <a:lnTo>
                  <a:pt x="3696432" y="0"/>
                </a:lnTo>
                <a:lnTo>
                  <a:pt x="3696432" y="5751576"/>
                </a:lnTo>
                <a:lnTo>
                  <a:pt x="0" y="575157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9" name="Date Placeholder 8">
            <a:extLst>
              <a:ext uri="{FF2B5EF4-FFF2-40B4-BE49-F238E27FC236}">
                <a16:creationId xmlns:a16="http://schemas.microsoft.com/office/drawing/2014/main" id="{D5DDC5FA-EEDB-898F-533E-4094ADA899B9}"/>
              </a:ext>
            </a:extLst>
          </p:cNvPr>
          <p:cNvSpPr>
            <a:spLocks noGrp="1"/>
          </p:cNvSpPr>
          <p:nvPr>
            <p:ph type="dt" sz="half" idx="15"/>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E79B0359-4B55-D899-E584-A8E6B2ED9123}"/>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6B916D02-76FE-EAED-CC51-A50448811F7D}"/>
              </a:ext>
            </a:extLst>
          </p:cNvPr>
          <p:cNvSpPr>
            <a:spLocks noGrp="1"/>
          </p:cNvSpPr>
          <p:nvPr>
            <p:ph type="sldNum" sz="quarter" idx="17"/>
          </p:nvPr>
        </p:nvSpPr>
        <p:spPr>
          <a:xfrm>
            <a:off x="10682289"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3417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E787D40-90B5-470E-95A2-784F1CB479C9}"/>
              </a:ext>
            </a:extLst>
          </p:cNvPr>
          <p:cNvSpPr>
            <a:spLocks noGrp="1"/>
          </p:cNvSpPr>
          <p:nvPr>
            <p:ph type="ctrTitle" hasCustomPrompt="1"/>
          </p:nvPr>
        </p:nvSpPr>
        <p:spPr>
          <a:xfrm>
            <a:off x="449580" y="4423702"/>
            <a:ext cx="11292839" cy="1550378"/>
          </a:xfrm>
        </p:spPr>
        <p:txBody>
          <a:bodyPr>
            <a:noAutofit/>
          </a:bodyPr>
          <a:lstStyle>
            <a:lvl1pPr algn="ctr">
              <a:defRPr/>
            </a:lvl1pPr>
          </a:lstStyle>
          <a:p>
            <a:r>
              <a:rPr lang="en-US" dirty="0"/>
              <a:t>Click to add title</a:t>
            </a:r>
          </a:p>
        </p:txBody>
      </p:sp>
      <p:sp>
        <p:nvSpPr>
          <p:cNvPr id="3" name="Picture Placeholder 2">
            <a:extLst>
              <a:ext uri="{FF2B5EF4-FFF2-40B4-BE49-F238E27FC236}">
                <a16:creationId xmlns:a16="http://schemas.microsoft.com/office/drawing/2014/main" id="{D528BC27-38F1-47F3-EC35-7DD8B88A7533}"/>
              </a:ext>
            </a:extLst>
          </p:cNvPr>
          <p:cNvSpPr>
            <a:spLocks noGrp="1"/>
          </p:cNvSpPr>
          <p:nvPr>
            <p:ph type="pic" sz="quarter" idx="13" hasCustomPrompt="1"/>
          </p:nvPr>
        </p:nvSpPr>
        <p:spPr>
          <a:xfrm>
            <a:off x="449580" y="705104"/>
            <a:ext cx="11292840" cy="3643376"/>
          </a:xfrm>
          <a:custGeom>
            <a:avLst/>
            <a:gdLst>
              <a:gd name="connsiteX0" fmla="*/ 7593576 w 11292840"/>
              <a:gd name="connsiteY0" fmla="*/ 0 h 3643376"/>
              <a:gd name="connsiteX1" fmla="*/ 11292840 w 11292840"/>
              <a:gd name="connsiteY1" fmla="*/ 0 h 3643376"/>
              <a:gd name="connsiteX2" fmla="*/ 11292840 w 11292840"/>
              <a:gd name="connsiteY2" fmla="*/ 3643376 h 3643376"/>
              <a:gd name="connsiteX3" fmla="*/ 7593576 w 11292840"/>
              <a:gd name="connsiteY3" fmla="*/ 3643376 h 3643376"/>
              <a:gd name="connsiteX4" fmla="*/ 0 w 11292840"/>
              <a:gd name="connsiteY4" fmla="*/ 0 h 3643376"/>
              <a:gd name="connsiteX5" fmla="*/ 7489667 w 11292840"/>
              <a:gd name="connsiteY5" fmla="*/ 0 h 3643376"/>
              <a:gd name="connsiteX6" fmla="*/ 7489667 w 11292840"/>
              <a:gd name="connsiteY6" fmla="*/ 3643376 h 3643376"/>
              <a:gd name="connsiteX7" fmla="*/ 0 w 11292840"/>
              <a:gd name="connsiteY7" fmla="*/ 3643376 h 364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2840" h="3643376">
                <a:moveTo>
                  <a:pt x="7593576" y="0"/>
                </a:moveTo>
                <a:lnTo>
                  <a:pt x="11292840" y="0"/>
                </a:lnTo>
                <a:lnTo>
                  <a:pt x="11292840" y="3643376"/>
                </a:lnTo>
                <a:lnTo>
                  <a:pt x="7593576" y="3643376"/>
                </a:lnTo>
                <a:close/>
                <a:moveTo>
                  <a:pt x="0" y="0"/>
                </a:moveTo>
                <a:lnTo>
                  <a:pt x="7489667" y="0"/>
                </a:lnTo>
                <a:lnTo>
                  <a:pt x="7489667" y="3643376"/>
                </a:lnTo>
                <a:lnTo>
                  <a:pt x="0" y="3643376"/>
                </a:lnTo>
                <a:close/>
              </a:path>
            </a:pathLst>
          </a:custGeom>
          <a:solidFill>
            <a:schemeClr val="accent2"/>
          </a:solidFill>
        </p:spPr>
        <p:txBody>
          <a:bodyPr wrap="square" anchor="t">
            <a:noAutofit/>
          </a:bodyPr>
          <a:lstStyle>
            <a:lvl1pPr marL="0" indent="0" algn="ctr">
              <a:buNone/>
              <a:defRPr/>
            </a:lvl1pPr>
          </a:lstStyle>
          <a:p>
            <a:pPr marL="0" marR="0" lvl="0" indent="0" algn="ctr"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dirty="0"/>
              <a:t>Click to add picture</a:t>
            </a:r>
          </a:p>
          <a:p>
            <a:endParaRPr lang="en-US" dirty="0"/>
          </a:p>
        </p:txBody>
      </p:sp>
    </p:spTree>
    <p:extLst>
      <p:ext uri="{BB962C8B-B14F-4D97-AF65-F5344CB8AC3E}">
        <p14:creationId xmlns:p14="http://schemas.microsoft.com/office/powerpoint/2010/main" val="625334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grpSp>
        <p:nvGrpSpPr>
          <p:cNvPr id="7" name="Group 6">
            <a:extLst>
              <a:ext uri="{FF2B5EF4-FFF2-40B4-BE49-F238E27FC236}">
                <a16:creationId xmlns:a16="http://schemas.microsoft.com/office/drawing/2014/main" id="{E457D222-120F-E222-DE7E-B44B0BC1863F}"/>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9DF259B-1168-B954-21F8-A08A3C462F3C}"/>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B5A595C-AA3A-9D82-01BB-7810CE5F7A5E}"/>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178CB63-8F78-566B-8120-9DC73FB7B23B}"/>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091055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p:txBody>
          <a:bodyPr/>
          <a:lstStyle/>
          <a:p>
            <a:r>
              <a:rPr lang="en-US" dirty="0"/>
              <a:t> heart Diseases patient's dataset</a:t>
            </a:r>
          </a:p>
        </p:txBody>
      </p:sp>
      <p:pic>
        <p:nvPicPr>
          <p:cNvPr id="10" name="Picture Placeholder 9" descr="A stethoscope on a clipboard">
            <a:extLst>
              <a:ext uri="{FF2B5EF4-FFF2-40B4-BE49-F238E27FC236}">
                <a16:creationId xmlns:a16="http://schemas.microsoft.com/office/drawing/2014/main" id="{CC4B82FA-2EA0-5319-6B9C-8D78349FCB09}"/>
              </a:ext>
            </a:extLst>
          </p:cNvPr>
          <p:cNvPicPr>
            <a:picLocks noGrp="1" noChangeAspect="1"/>
          </p:cNvPicPr>
          <p:nvPr>
            <p:ph type="pic" sz="quarter" idx="13"/>
          </p:nvPr>
        </p:nvPicPr>
        <p:blipFill rotWithShape="1">
          <a:blip r:embed="rId3"/>
          <a:srcRect t="28164" b="28164"/>
          <a:stretch/>
        </p:blipFill>
        <p:spPr/>
      </p:pic>
      <p:sp>
        <p:nvSpPr>
          <p:cNvPr id="2" name="TextBox 1">
            <a:extLst>
              <a:ext uri="{FF2B5EF4-FFF2-40B4-BE49-F238E27FC236}">
                <a16:creationId xmlns:a16="http://schemas.microsoft.com/office/drawing/2014/main" id="{4A45DE29-5F6E-06F4-B33A-DF9C48ACDE66}"/>
              </a:ext>
            </a:extLst>
          </p:cNvPr>
          <p:cNvSpPr txBox="1"/>
          <p:nvPr/>
        </p:nvSpPr>
        <p:spPr>
          <a:xfrm>
            <a:off x="8879174" y="6412490"/>
            <a:ext cx="3312826" cy="369332"/>
          </a:xfrm>
          <a:prstGeom prst="rect">
            <a:avLst/>
          </a:prstGeom>
          <a:noFill/>
        </p:spPr>
        <p:txBody>
          <a:bodyPr wrap="square" rtlCol="0">
            <a:spAutoFit/>
          </a:bodyPr>
          <a:lstStyle/>
          <a:p>
            <a:r>
              <a:rPr lang="en-SG" dirty="0"/>
              <a:t>Created by: Yuxiang 22/12/2025</a:t>
            </a:r>
          </a:p>
        </p:txBody>
      </p:sp>
    </p:spTree>
    <p:extLst>
      <p:ext uri="{BB962C8B-B14F-4D97-AF65-F5344CB8AC3E}">
        <p14:creationId xmlns:p14="http://schemas.microsoft.com/office/powerpoint/2010/main" val="103975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B23E1E4-7CB2-923B-9D41-672CB85E05DA}"/>
              </a:ext>
            </a:extLst>
          </p:cNvPr>
          <p:cNvSpPr>
            <a:spLocks noGrp="1"/>
          </p:cNvSpPr>
          <p:nvPr>
            <p:ph type="title"/>
          </p:nvPr>
        </p:nvSpPr>
        <p:spPr/>
        <p:txBody>
          <a:bodyPr/>
          <a:lstStyle/>
          <a:p>
            <a:r>
              <a:rPr lang="en-US" dirty="0"/>
              <a:t>Agenda	</a:t>
            </a:r>
          </a:p>
        </p:txBody>
      </p:sp>
      <p:sp>
        <p:nvSpPr>
          <p:cNvPr id="8" name="Content Placeholder 7">
            <a:extLst>
              <a:ext uri="{FF2B5EF4-FFF2-40B4-BE49-F238E27FC236}">
                <a16:creationId xmlns:a16="http://schemas.microsoft.com/office/drawing/2014/main" id="{1A667A9A-3428-68BE-D555-0DE1859FDF8A}"/>
              </a:ext>
            </a:extLst>
          </p:cNvPr>
          <p:cNvSpPr>
            <a:spLocks noGrp="1"/>
          </p:cNvSpPr>
          <p:nvPr>
            <p:ph sz="quarter" idx="4"/>
          </p:nvPr>
        </p:nvSpPr>
        <p:spPr/>
        <p:txBody>
          <a:bodyPr/>
          <a:lstStyle/>
          <a:p>
            <a:pPr marL="285750" indent="-285750">
              <a:buFont typeface="Arial" panose="020B0604020202020204" pitchFamily="34" charset="0"/>
              <a:buChar char="•"/>
            </a:pPr>
            <a:r>
              <a:rPr lang="en-US" dirty="0"/>
              <a:t>Findings from the dataset</a:t>
            </a:r>
          </a:p>
          <a:p>
            <a:endParaRPr lang="en-US" dirty="0"/>
          </a:p>
          <a:p>
            <a:pPr marL="285750" indent="-285750">
              <a:buFont typeface="Arial" panose="020B0604020202020204" pitchFamily="34" charset="0"/>
              <a:buChar char="•"/>
            </a:pPr>
            <a:r>
              <a:rPr lang="en-US" dirty="0"/>
              <a:t>Identify the trend/ relationship between the dataset</a:t>
            </a:r>
          </a:p>
          <a:p>
            <a:endParaRPr lang="en-US" dirty="0"/>
          </a:p>
          <a:p>
            <a:pPr marL="285750" indent="-285750">
              <a:buFont typeface="Arial" panose="020B0604020202020204" pitchFamily="34" charset="0"/>
              <a:buChar char="•"/>
            </a:pPr>
            <a:r>
              <a:rPr lang="en-US" dirty="0"/>
              <a:t>Create a model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Conclusion</a:t>
            </a:r>
          </a:p>
        </p:txBody>
      </p:sp>
      <p:pic>
        <p:nvPicPr>
          <p:cNvPr id="34" name="Picture Placeholder 21" descr="A close-up of a stethoscope">
            <a:extLst>
              <a:ext uri="{FF2B5EF4-FFF2-40B4-BE49-F238E27FC236}">
                <a16:creationId xmlns:a16="http://schemas.microsoft.com/office/drawing/2014/main" id="{63F55FD3-B051-BD22-347E-065B72C87E1C}"/>
              </a:ext>
            </a:extLst>
          </p:cNvPr>
          <p:cNvPicPr>
            <a:picLocks noGrp="1" noChangeAspect="1"/>
          </p:cNvPicPr>
          <p:nvPr>
            <p:ph type="pic" sz="quarter" idx="13"/>
          </p:nvPr>
        </p:nvPicPr>
        <p:blipFill>
          <a:blip r:embed="rId3"/>
          <a:srcRect l="148" r="148"/>
          <a:stretch/>
        </p:blipFill>
        <p:spPr/>
      </p:pic>
    </p:spTree>
    <p:extLst>
      <p:ext uri="{BB962C8B-B14F-4D97-AF65-F5344CB8AC3E}">
        <p14:creationId xmlns:p14="http://schemas.microsoft.com/office/powerpoint/2010/main" val="2201125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6" name="Rectangle 1095">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098" name="Rectangle 1097">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100" name="Rectangle 1099">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102" name="Rectangle 1101">
            <a:extLst>
              <a:ext uri="{FF2B5EF4-FFF2-40B4-BE49-F238E27FC236}">
                <a16:creationId xmlns:a16="http://schemas.microsoft.com/office/drawing/2014/main" id="{E2852671-8EB6-4EAF-8AF8-65CF3FD66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1104" name="Rectangle 1103">
            <a:extLst>
              <a:ext uri="{FF2B5EF4-FFF2-40B4-BE49-F238E27FC236}">
                <a16:creationId xmlns:a16="http://schemas.microsoft.com/office/drawing/2014/main" id="{26B4480E-B7FF-4481-890E-043A69AE6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6" name="Group 1105">
            <a:extLst>
              <a:ext uri="{FF2B5EF4-FFF2-40B4-BE49-F238E27FC236}">
                <a16:creationId xmlns:a16="http://schemas.microsoft.com/office/drawing/2014/main" id="{79394E1F-0B5F-497D-B2A6-8383A2A548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3"/>
            <a:chOff x="438068" y="457200"/>
            <a:chExt cx="3703320" cy="5935133"/>
          </a:xfrm>
        </p:grpSpPr>
        <p:sp>
          <p:nvSpPr>
            <p:cNvPr id="1107" name="Rectangle 1106">
              <a:extLst>
                <a:ext uri="{FF2B5EF4-FFF2-40B4-BE49-F238E27FC236}">
                  <a16:creationId xmlns:a16="http://schemas.microsoft.com/office/drawing/2014/main" id="{1F1FF39A-AC3C-4066-9D4C-519AA22812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01201"/>
              <a:ext cx="3702134" cy="5791132"/>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108" name="Rectangle 1107">
              <a:extLst>
                <a:ext uri="{FF2B5EF4-FFF2-40B4-BE49-F238E27FC236}">
                  <a16:creationId xmlns:a16="http://schemas.microsoft.com/office/drawing/2014/main" id="{64C13BAB-7C00-4D21-A857-E3D41C0A2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grpSp>
      <p:sp>
        <p:nvSpPr>
          <p:cNvPr id="16" name="Title 1">
            <a:extLst>
              <a:ext uri="{FF2B5EF4-FFF2-40B4-BE49-F238E27FC236}">
                <a16:creationId xmlns:a16="http://schemas.microsoft.com/office/drawing/2014/main" id="{B68E91FE-1E96-9012-B0A7-9E9605A1D060}"/>
              </a:ext>
            </a:extLst>
          </p:cNvPr>
          <p:cNvSpPr>
            <a:spLocks noGrp="1"/>
          </p:cNvSpPr>
          <p:nvPr>
            <p:ph type="ctrTitle"/>
          </p:nvPr>
        </p:nvSpPr>
        <p:spPr>
          <a:xfrm>
            <a:off x="584200" y="1524001"/>
            <a:ext cx="3412067" cy="3478384"/>
          </a:xfrm>
        </p:spPr>
        <p:txBody>
          <a:bodyPr vert="horz" lIns="91440" tIns="45720" rIns="91440" bIns="45720" rtlCol="0" anchor="b">
            <a:normAutofit/>
          </a:bodyPr>
          <a:lstStyle/>
          <a:p>
            <a:pPr algn="l"/>
            <a:r>
              <a:rPr lang="en-US" sz="3600">
                <a:solidFill>
                  <a:srgbClr val="FFFFFF"/>
                </a:solidFill>
              </a:rPr>
              <a:t>Finding from the dataset</a:t>
            </a:r>
          </a:p>
        </p:txBody>
      </p:sp>
      <p:pic>
        <p:nvPicPr>
          <p:cNvPr id="1026" name="Picture 2">
            <a:extLst>
              <a:ext uri="{FF2B5EF4-FFF2-40B4-BE49-F238E27FC236}">
                <a16:creationId xmlns:a16="http://schemas.microsoft.com/office/drawing/2014/main" id="{81199E9D-2CBA-7A28-159C-AC62122CC08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353468" y="183643"/>
            <a:ext cx="7087116" cy="481874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7F839F2-FE09-66F6-C9CC-447773C66FC1}"/>
              </a:ext>
            </a:extLst>
          </p:cNvPr>
          <p:cNvSpPr txBox="1"/>
          <p:nvPr/>
        </p:nvSpPr>
        <p:spPr>
          <a:xfrm>
            <a:off x="4480209" y="5186028"/>
            <a:ext cx="7123876" cy="646331"/>
          </a:xfrm>
          <a:prstGeom prst="rect">
            <a:avLst/>
          </a:prstGeom>
          <a:noFill/>
        </p:spPr>
        <p:txBody>
          <a:bodyPr wrap="square" rtlCol="0">
            <a:spAutoFit/>
          </a:bodyPr>
          <a:lstStyle/>
          <a:p>
            <a:r>
              <a:rPr lang="en-SG" dirty="0"/>
              <a:t>There are various factors like age, chest pain, cholesterol, and more.</a:t>
            </a:r>
          </a:p>
          <a:p>
            <a:r>
              <a:rPr lang="en-SG" dirty="0"/>
              <a:t>In this correlation heatmap  show the relationship between variables </a:t>
            </a:r>
          </a:p>
        </p:txBody>
      </p:sp>
    </p:spTree>
    <p:extLst>
      <p:ext uri="{BB962C8B-B14F-4D97-AF65-F5344CB8AC3E}">
        <p14:creationId xmlns:p14="http://schemas.microsoft.com/office/powerpoint/2010/main" val="1721841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63" name="Rectangle 2162">
            <a:extLst>
              <a:ext uri="{FF2B5EF4-FFF2-40B4-BE49-F238E27FC236}">
                <a16:creationId xmlns:a16="http://schemas.microsoft.com/office/drawing/2014/main" id="{910015B9-6046-41B8-83BD-71778D2F9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165" name="Rectangle 2164">
            <a:extLst>
              <a:ext uri="{FF2B5EF4-FFF2-40B4-BE49-F238E27FC236}">
                <a16:creationId xmlns:a16="http://schemas.microsoft.com/office/drawing/2014/main" id="{53908232-52E2-4794-A6C1-54300FB989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167" name="Rectangle 2166">
            <a:extLst>
              <a:ext uri="{FF2B5EF4-FFF2-40B4-BE49-F238E27FC236}">
                <a16:creationId xmlns:a16="http://schemas.microsoft.com/office/drawing/2014/main" id="{D2B9299F-BED7-44C5-9CC5-E542F9193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2169" name="Rectangle 2168">
            <a:extLst>
              <a:ext uri="{FF2B5EF4-FFF2-40B4-BE49-F238E27FC236}">
                <a16:creationId xmlns:a16="http://schemas.microsoft.com/office/drawing/2014/main" id="{7D541204-B666-420C-9DF1-C06950D2F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932F2C8-8921-57F2-894E-7483492E11A4}"/>
              </a:ext>
            </a:extLst>
          </p:cNvPr>
          <p:cNvSpPr txBox="1"/>
          <p:nvPr/>
        </p:nvSpPr>
        <p:spPr>
          <a:xfrm>
            <a:off x="581192" y="702155"/>
            <a:ext cx="3424138" cy="150013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400" b="0" kern="1200" cap="all" dirty="0">
                <a:solidFill>
                  <a:schemeClr val="tx1">
                    <a:lumMod val="75000"/>
                    <a:lumOff val="25000"/>
                  </a:schemeClr>
                </a:solidFill>
                <a:latin typeface="+mj-lt"/>
                <a:ea typeface="+mj-ea"/>
                <a:cs typeface="+mj-cs"/>
              </a:rPr>
              <a:t>The relations between various factors and heart disease I</a:t>
            </a:r>
          </a:p>
        </p:txBody>
      </p:sp>
      <p:sp>
        <p:nvSpPr>
          <p:cNvPr id="2171" name="Rectangle 2170">
            <a:extLst>
              <a:ext uri="{FF2B5EF4-FFF2-40B4-BE49-F238E27FC236}">
                <a16:creationId xmlns:a16="http://schemas.microsoft.com/office/drawing/2014/main" id="{0C0E6C8D-508A-44F8-BB9B-7911B0118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173" name="Rectangle 2172">
            <a:extLst>
              <a:ext uri="{FF2B5EF4-FFF2-40B4-BE49-F238E27FC236}">
                <a16:creationId xmlns:a16="http://schemas.microsoft.com/office/drawing/2014/main" id="{C84847AE-0FEA-43E8-8AA1-4169A6FDB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175" name="Rectangle 2174">
            <a:extLst>
              <a:ext uri="{FF2B5EF4-FFF2-40B4-BE49-F238E27FC236}">
                <a16:creationId xmlns:a16="http://schemas.microsoft.com/office/drawing/2014/main" id="{C487790A-E9D7-438A-90BB-9361BEF14B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extBox 1">
            <a:extLst>
              <a:ext uri="{FF2B5EF4-FFF2-40B4-BE49-F238E27FC236}">
                <a16:creationId xmlns:a16="http://schemas.microsoft.com/office/drawing/2014/main" id="{BF5E4EA2-FF86-9199-23FE-3411460C68B4}"/>
              </a:ext>
            </a:extLst>
          </p:cNvPr>
          <p:cNvSpPr txBox="1"/>
          <p:nvPr/>
        </p:nvSpPr>
        <p:spPr>
          <a:xfrm>
            <a:off x="581193" y="2414788"/>
            <a:ext cx="3424138" cy="3975776"/>
          </a:xfrm>
          <a:prstGeom prst="rect">
            <a:avLst/>
          </a:prstGeom>
        </p:spPr>
        <p:txBody>
          <a:bodyPr vert="horz" lIns="91440" tIns="45720" rIns="91440" bIns="45720" rtlCol="0" anchor="ctr">
            <a:normAutofit lnSpcReduction="10000"/>
          </a:bodyPr>
          <a:lstStyle/>
          <a:p>
            <a:pPr>
              <a:spcBef>
                <a:spcPct val="20000"/>
              </a:spcBef>
              <a:spcAft>
                <a:spcPts val="600"/>
              </a:spcAft>
              <a:buClr>
                <a:schemeClr val="accent1"/>
              </a:buClr>
              <a:buSzPct val="92000"/>
              <a:buFont typeface="Wingdings 2" panose="05020102010507070707" pitchFamily="18" charset="2"/>
              <a:buChar char=""/>
            </a:pPr>
            <a:r>
              <a:rPr lang="en-US" sz="1700" dirty="0">
                <a:solidFill>
                  <a:schemeClr val="tx1">
                    <a:lumMod val="75000"/>
                    <a:lumOff val="25000"/>
                  </a:schemeClr>
                </a:solidFill>
              </a:rPr>
              <a:t>This histogram shows the age distribution in the dataset. The highest peak is between 50 and 60 .</a:t>
            </a:r>
          </a:p>
          <a:p>
            <a:pPr>
              <a:spcBef>
                <a:spcPct val="20000"/>
              </a:spcBef>
              <a:spcAft>
                <a:spcPts val="600"/>
              </a:spcAft>
              <a:buClr>
                <a:schemeClr val="accent1"/>
              </a:buClr>
              <a:buSzPct val="92000"/>
              <a:buFont typeface="Wingdings 2" panose="05020102010507070707" pitchFamily="18" charset="2"/>
              <a:buChar char=""/>
            </a:pPr>
            <a:endParaRPr lang="en-US" sz="1700" dirty="0">
              <a:solidFill>
                <a:schemeClr val="tx1">
                  <a:lumMod val="75000"/>
                  <a:lumOff val="25000"/>
                </a:schemeClr>
              </a:solidFill>
            </a:endParaRPr>
          </a:p>
          <a:p>
            <a:pPr>
              <a:spcBef>
                <a:spcPct val="20000"/>
              </a:spcBef>
              <a:spcAft>
                <a:spcPts val="600"/>
              </a:spcAft>
              <a:buClr>
                <a:schemeClr val="accent1"/>
              </a:buClr>
              <a:buSzPct val="92000"/>
              <a:buFont typeface="Wingdings 2" panose="05020102010507070707" pitchFamily="18" charset="2"/>
              <a:buChar char=""/>
            </a:pPr>
            <a:r>
              <a:rPr lang="en-US" sz="1700" dirty="0">
                <a:solidFill>
                  <a:schemeClr val="tx1">
                    <a:lumMod val="75000"/>
                    <a:lumOff val="25000"/>
                  </a:schemeClr>
                </a:solidFill>
              </a:rPr>
              <a:t>This show that age can be a factor that contributed to heart disease</a:t>
            </a:r>
          </a:p>
          <a:p>
            <a:pPr>
              <a:spcBef>
                <a:spcPct val="20000"/>
              </a:spcBef>
              <a:spcAft>
                <a:spcPts val="600"/>
              </a:spcAft>
              <a:buClr>
                <a:schemeClr val="accent1"/>
              </a:buClr>
              <a:buSzPct val="92000"/>
              <a:buFont typeface="Wingdings 2" panose="05020102010507070707" pitchFamily="18" charset="2"/>
              <a:buChar char=""/>
            </a:pPr>
            <a:endParaRPr lang="en-US" sz="1700" dirty="0">
              <a:solidFill>
                <a:schemeClr val="tx1">
                  <a:lumMod val="75000"/>
                  <a:lumOff val="25000"/>
                </a:schemeClr>
              </a:solidFill>
            </a:endParaRPr>
          </a:p>
          <a:p>
            <a:pPr>
              <a:spcBef>
                <a:spcPct val="20000"/>
              </a:spcBef>
              <a:spcAft>
                <a:spcPts val="600"/>
              </a:spcAft>
              <a:buClr>
                <a:schemeClr val="accent1"/>
              </a:buClr>
              <a:buSzPct val="92000"/>
              <a:buFont typeface="Wingdings 2" panose="05020102010507070707" pitchFamily="18" charset="2"/>
              <a:buChar char=""/>
            </a:pPr>
            <a:r>
              <a:rPr lang="en-US" sz="1700" dirty="0">
                <a:solidFill>
                  <a:schemeClr val="tx1">
                    <a:lumMod val="75000"/>
                    <a:lumOff val="25000"/>
                  </a:schemeClr>
                </a:solidFill>
              </a:rPr>
              <a:t>On the top right, you can see the age and the scatter plot of gender with respect to their cholesterol level</a:t>
            </a:r>
          </a:p>
          <a:p>
            <a:pPr>
              <a:spcBef>
                <a:spcPct val="20000"/>
              </a:spcBef>
              <a:spcAft>
                <a:spcPts val="600"/>
              </a:spcAft>
              <a:buClr>
                <a:schemeClr val="accent1"/>
              </a:buClr>
              <a:buSzPct val="92000"/>
              <a:buFont typeface="Wingdings 2" panose="05020102010507070707" pitchFamily="18" charset="2"/>
              <a:buChar char=""/>
            </a:pPr>
            <a:endParaRPr lang="en-US" sz="1700" dirty="0">
              <a:solidFill>
                <a:schemeClr val="tx1">
                  <a:lumMod val="75000"/>
                  <a:lumOff val="25000"/>
                </a:schemeClr>
              </a:solidFill>
            </a:endParaRPr>
          </a:p>
          <a:p>
            <a:pPr>
              <a:spcBef>
                <a:spcPct val="20000"/>
              </a:spcBef>
              <a:spcAft>
                <a:spcPts val="600"/>
              </a:spcAft>
              <a:buClr>
                <a:schemeClr val="accent1"/>
              </a:buClr>
              <a:buSzPct val="92000"/>
              <a:buFont typeface="Wingdings 2" panose="05020102010507070707" pitchFamily="18" charset="2"/>
              <a:buChar char=""/>
            </a:pPr>
            <a:r>
              <a:rPr lang="en-US" sz="1700" dirty="0">
                <a:solidFill>
                  <a:schemeClr val="tx1">
                    <a:lumMod val="75000"/>
                    <a:lumOff val="25000"/>
                  </a:schemeClr>
                </a:solidFill>
              </a:rPr>
              <a:t>0 for male and 1 for female</a:t>
            </a:r>
          </a:p>
        </p:txBody>
      </p:sp>
      <p:pic>
        <p:nvPicPr>
          <p:cNvPr id="2060" name="Picture 12">
            <a:extLst>
              <a:ext uri="{FF2B5EF4-FFF2-40B4-BE49-F238E27FC236}">
                <a16:creationId xmlns:a16="http://schemas.microsoft.com/office/drawing/2014/main" id="{96A57E1C-C839-D3DA-6FFC-5BDC76A46D0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241830" y="1072146"/>
            <a:ext cx="3604409" cy="268528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4E0A350-6EC8-5E12-40C2-7228E50CA8CC}"/>
              </a:ext>
            </a:extLst>
          </p:cNvPr>
          <p:cNvPicPr>
            <a:picLocks noChangeAspect="1"/>
          </p:cNvPicPr>
          <p:nvPr/>
        </p:nvPicPr>
        <p:blipFill>
          <a:blip r:embed="rId4"/>
          <a:stretch>
            <a:fillRect/>
          </a:stretch>
        </p:blipFill>
        <p:spPr>
          <a:xfrm>
            <a:off x="7945150" y="820572"/>
            <a:ext cx="3572473" cy="3188432"/>
          </a:xfrm>
          <a:prstGeom prst="rect">
            <a:avLst/>
          </a:prstGeom>
        </p:spPr>
      </p:pic>
      <p:pic>
        <p:nvPicPr>
          <p:cNvPr id="10" name="Picture 6">
            <a:extLst>
              <a:ext uri="{FF2B5EF4-FFF2-40B4-BE49-F238E27FC236}">
                <a16:creationId xmlns:a16="http://schemas.microsoft.com/office/drawing/2014/main" id="{1D87930F-6F69-F6AD-F63B-F3E65D2212A9}"/>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518149" y="4502410"/>
            <a:ext cx="5334729" cy="235559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8EC6482-D027-0871-83E5-1DF80BA84FD8}"/>
              </a:ext>
            </a:extLst>
          </p:cNvPr>
          <p:cNvSpPr txBox="1"/>
          <p:nvPr/>
        </p:nvSpPr>
        <p:spPr>
          <a:xfrm>
            <a:off x="6879732" y="4071041"/>
            <a:ext cx="2611561" cy="369332"/>
          </a:xfrm>
          <a:prstGeom prst="rect">
            <a:avLst/>
          </a:prstGeom>
          <a:noFill/>
        </p:spPr>
        <p:txBody>
          <a:bodyPr wrap="square" rtlCol="0">
            <a:spAutoFit/>
          </a:bodyPr>
          <a:lstStyle/>
          <a:p>
            <a:r>
              <a:rPr lang="en-SG" dirty="0"/>
              <a:t>Age vs Heart Diseases</a:t>
            </a:r>
          </a:p>
        </p:txBody>
      </p:sp>
    </p:spTree>
    <p:extLst>
      <p:ext uri="{BB962C8B-B14F-4D97-AF65-F5344CB8AC3E}">
        <p14:creationId xmlns:p14="http://schemas.microsoft.com/office/powerpoint/2010/main" val="971790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EB8744-3837-0C0B-39F5-D184DE9225C6}"/>
            </a:ext>
          </a:extLst>
        </p:cNvPr>
        <p:cNvGrpSpPr/>
        <p:nvPr/>
      </p:nvGrpSpPr>
      <p:grpSpPr>
        <a:xfrm>
          <a:off x="0" y="0"/>
          <a:ext cx="0" cy="0"/>
          <a:chOff x="0" y="0"/>
          <a:chExt cx="0" cy="0"/>
        </a:xfrm>
      </p:grpSpPr>
      <p:sp>
        <p:nvSpPr>
          <p:cNvPr id="2081" name="Rectangle 2080">
            <a:extLst>
              <a:ext uri="{FF2B5EF4-FFF2-40B4-BE49-F238E27FC236}">
                <a16:creationId xmlns:a16="http://schemas.microsoft.com/office/drawing/2014/main" id="{AC10A1D7-6E1D-6F78-BB5B-676A250BD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083" name="Rectangle 2082">
            <a:extLst>
              <a:ext uri="{FF2B5EF4-FFF2-40B4-BE49-F238E27FC236}">
                <a16:creationId xmlns:a16="http://schemas.microsoft.com/office/drawing/2014/main" id="{03B93CA3-9B8C-2E82-26EE-5C76E42D93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085" name="Rectangle 2084">
            <a:extLst>
              <a:ext uri="{FF2B5EF4-FFF2-40B4-BE49-F238E27FC236}">
                <a16:creationId xmlns:a16="http://schemas.microsoft.com/office/drawing/2014/main" id="{AC3392C9-CA63-920B-E0D7-85D02786C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087" name="Rectangle 2086">
            <a:extLst>
              <a:ext uri="{FF2B5EF4-FFF2-40B4-BE49-F238E27FC236}">
                <a16:creationId xmlns:a16="http://schemas.microsoft.com/office/drawing/2014/main" id="{A884AA50-254E-23A8-52DB-1F67E5336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2089" name="Rectangle 2088">
            <a:extLst>
              <a:ext uri="{FF2B5EF4-FFF2-40B4-BE49-F238E27FC236}">
                <a16:creationId xmlns:a16="http://schemas.microsoft.com/office/drawing/2014/main" id="{50C1D918-93A9-5D84-5919-12CFC843A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ECBBF60-F25A-A320-4DC5-8484CBECF8DC}"/>
              </a:ext>
            </a:extLst>
          </p:cNvPr>
          <p:cNvSpPr txBox="1"/>
          <p:nvPr/>
        </p:nvSpPr>
        <p:spPr>
          <a:xfrm>
            <a:off x="581191" y="922206"/>
            <a:ext cx="11509209" cy="1149243"/>
          </a:xfrm>
          <a:prstGeom prst="rect">
            <a:avLst/>
          </a:prstGeom>
        </p:spPr>
        <p:txBody>
          <a:bodyPr vert="horz" lIns="91440" tIns="45720" rIns="91440" bIns="45720" rtlCol="0" anchor="b">
            <a:normAutofit/>
          </a:bodyPr>
          <a:lstStyle/>
          <a:p>
            <a:pPr>
              <a:spcBef>
                <a:spcPct val="0"/>
              </a:spcBef>
              <a:spcAft>
                <a:spcPts val="600"/>
              </a:spcAft>
            </a:pPr>
            <a:r>
              <a:rPr lang="en-US" sz="3600" cap="all" dirty="0">
                <a:solidFill>
                  <a:schemeClr val="tx1">
                    <a:lumMod val="75000"/>
                    <a:lumOff val="25000"/>
                  </a:schemeClr>
                </a:solidFill>
                <a:latin typeface="+mj-lt"/>
                <a:ea typeface="+mj-ea"/>
                <a:cs typeface="+mj-cs"/>
              </a:rPr>
              <a:t>Scatter plot between various factors</a:t>
            </a:r>
          </a:p>
        </p:txBody>
      </p:sp>
      <p:sp>
        <p:nvSpPr>
          <p:cNvPr id="2091" name="Rectangle 2090">
            <a:extLst>
              <a:ext uri="{FF2B5EF4-FFF2-40B4-BE49-F238E27FC236}">
                <a16:creationId xmlns:a16="http://schemas.microsoft.com/office/drawing/2014/main" id="{00689FDF-78E4-334D-1F16-8C90A11DD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093" name="Rectangle 2092">
            <a:extLst>
              <a:ext uri="{FF2B5EF4-FFF2-40B4-BE49-F238E27FC236}">
                <a16:creationId xmlns:a16="http://schemas.microsoft.com/office/drawing/2014/main" id="{F867A06D-79CF-CC55-B380-92A9CAC646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095" name="Rectangle 2094">
            <a:extLst>
              <a:ext uri="{FF2B5EF4-FFF2-40B4-BE49-F238E27FC236}">
                <a16:creationId xmlns:a16="http://schemas.microsoft.com/office/drawing/2014/main" id="{E42753ED-423F-906B-2533-5F2F176FC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097" name="Rectangle 2096">
            <a:extLst>
              <a:ext uri="{FF2B5EF4-FFF2-40B4-BE49-F238E27FC236}">
                <a16:creationId xmlns:a16="http://schemas.microsoft.com/office/drawing/2014/main" id="{6E6F5377-540E-13BF-0F2C-BC326D963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311" y="2785013"/>
            <a:ext cx="3702878" cy="360273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9" name="Rectangle 2098">
            <a:extLst>
              <a:ext uri="{FF2B5EF4-FFF2-40B4-BE49-F238E27FC236}">
                <a16:creationId xmlns:a16="http://schemas.microsoft.com/office/drawing/2014/main" id="{9B5F922E-844C-2127-2908-15D1D3104A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275" y="2786877"/>
            <a:ext cx="3702878" cy="360273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1" name="Rectangle 2100">
            <a:extLst>
              <a:ext uri="{FF2B5EF4-FFF2-40B4-BE49-F238E27FC236}">
                <a16:creationId xmlns:a16="http://schemas.microsoft.com/office/drawing/2014/main" id="{194FA79D-0C6D-8A8F-F7D7-8EF3250BA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36239" y="2790605"/>
            <a:ext cx="3702878" cy="360273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8" name="Picture 10">
            <a:extLst>
              <a:ext uri="{FF2B5EF4-FFF2-40B4-BE49-F238E27FC236}">
                <a16:creationId xmlns:a16="http://schemas.microsoft.com/office/drawing/2014/main" id="{D583FF01-CACA-F2EB-FB03-9C585EB6EE7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141464" y="3679009"/>
            <a:ext cx="3492426" cy="226134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DA52615-5938-C681-41FC-65E878DFF99A}"/>
              </a:ext>
            </a:extLst>
          </p:cNvPr>
          <p:cNvSpPr txBox="1"/>
          <p:nvPr/>
        </p:nvSpPr>
        <p:spPr>
          <a:xfrm>
            <a:off x="8182362" y="2884495"/>
            <a:ext cx="3148269" cy="369332"/>
          </a:xfrm>
          <a:prstGeom prst="rect">
            <a:avLst/>
          </a:prstGeom>
          <a:noFill/>
        </p:spPr>
        <p:txBody>
          <a:bodyPr wrap="square" rtlCol="0">
            <a:spAutoFit/>
          </a:bodyPr>
          <a:lstStyle/>
          <a:p>
            <a:r>
              <a:rPr lang="en-SG" dirty="0"/>
              <a:t>Cholesterol vs Heart Diseases</a:t>
            </a:r>
          </a:p>
        </p:txBody>
      </p:sp>
      <p:pic>
        <p:nvPicPr>
          <p:cNvPr id="8" name="Picture 7">
            <a:extLst>
              <a:ext uri="{FF2B5EF4-FFF2-40B4-BE49-F238E27FC236}">
                <a16:creationId xmlns:a16="http://schemas.microsoft.com/office/drawing/2014/main" id="{394C21B9-2F09-009F-5506-CE2C0983D3D7}"/>
              </a:ext>
            </a:extLst>
          </p:cNvPr>
          <p:cNvPicPr>
            <a:picLocks noChangeAspect="1"/>
          </p:cNvPicPr>
          <p:nvPr/>
        </p:nvPicPr>
        <p:blipFill>
          <a:blip r:embed="rId4"/>
          <a:stretch>
            <a:fillRect/>
          </a:stretch>
        </p:blipFill>
        <p:spPr>
          <a:xfrm>
            <a:off x="560282" y="3677002"/>
            <a:ext cx="3474937" cy="2265361"/>
          </a:xfrm>
          <a:prstGeom prst="rect">
            <a:avLst/>
          </a:prstGeom>
        </p:spPr>
      </p:pic>
      <p:sp>
        <p:nvSpPr>
          <p:cNvPr id="9" name="TextBox 8">
            <a:extLst>
              <a:ext uri="{FF2B5EF4-FFF2-40B4-BE49-F238E27FC236}">
                <a16:creationId xmlns:a16="http://schemas.microsoft.com/office/drawing/2014/main" id="{40FF366C-7C7E-E557-4079-6B7AF7602130}"/>
              </a:ext>
            </a:extLst>
          </p:cNvPr>
          <p:cNvSpPr txBox="1"/>
          <p:nvPr/>
        </p:nvSpPr>
        <p:spPr>
          <a:xfrm>
            <a:off x="1176831" y="2869024"/>
            <a:ext cx="3007540" cy="369332"/>
          </a:xfrm>
          <a:prstGeom prst="rect">
            <a:avLst/>
          </a:prstGeom>
          <a:noFill/>
        </p:spPr>
        <p:txBody>
          <a:bodyPr wrap="square" rtlCol="0">
            <a:spAutoFit/>
          </a:bodyPr>
          <a:lstStyle/>
          <a:p>
            <a:r>
              <a:rPr lang="en-SG" dirty="0"/>
              <a:t>Chest Pain vs. Heart Diseases</a:t>
            </a:r>
          </a:p>
        </p:txBody>
      </p:sp>
      <p:pic>
        <p:nvPicPr>
          <p:cNvPr id="11" name="Picture 10">
            <a:extLst>
              <a:ext uri="{FF2B5EF4-FFF2-40B4-BE49-F238E27FC236}">
                <a16:creationId xmlns:a16="http://schemas.microsoft.com/office/drawing/2014/main" id="{725310E3-D911-6D89-6AE8-60205FDF5167}"/>
              </a:ext>
            </a:extLst>
          </p:cNvPr>
          <p:cNvPicPr>
            <a:picLocks noChangeAspect="1"/>
          </p:cNvPicPr>
          <p:nvPr/>
        </p:nvPicPr>
        <p:blipFill>
          <a:blip r:embed="rId5"/>
          <a:stretch>
            <a:fillRect/>
          </a:stretch>
        </p:blipFill>
        <p:spPr>
          <a:xfrm>
            <a:off x="4418499" y="3677002"/>
            <a:ext cx="3348430" cy="2193168"/>
          </a:xfrm>
          <a:prstGeom prst="rect">
            <a:avLst/>
          </a:prstGeom>
        </p:spPr>
      </p:pic>
      <p:sp>
        <p:nvSpPr>
          <p:cNvPr id="12" name="TextBox 11">
            <a:extLst>
              <a:ext uri="{FF2B5EF4-FFF2-40B4-BE49-F238E27FC236}">
                <a16:creationId xmlns:a16="http://schemas.microsoft.com/office/drawing/2014/main" id="{54ED5303-B01B-0679-F0F3-D5C8E9E9930F}"/>
              </a:ext>
            </a:extLst>
          </p:cNvPr>
          <p:cNvSpPr txBox="1"/>
          <p:nvPr/>
        </p:nvSpPr>
        <p:spPr>
          <a:xfrm>
            <a:off x="4295535" y="2869024"/>
            <a:ext cx="3794741" cy="369332"/>
          </a:xfrm>
          <a:prstGeom prst="rect">
            <a:avLst/>
          </a:prstGeom>
          <a:noFill/>
        </p:spPr>
        <p:txBody>
          <a:bodyPr wrap="square" rtlCol="0">
            <a:spAutoFit/>
          </a:bodyPr>
          <a:lstStyle/>
          <a:p>
            <a:r>
              <a:rPr lang="en-SG" dirty="0"/>
              <a:t>Clogged Arteries vs. Heart Diseases</a:t>
            </a:r>
          </a:p>
        </p:txBody>
      </p:sp>
    </p:spTree>
    <p:extLst>
      <p:ext uri="{BB962C8B-B14F-4D97-AF65-F5344CB8AC3E}">
        <p14:creationId xmlns:p14="http://schemas.microsoft.com/office/powerpoint/2010/main" val="105227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1FFB2A65-61CD-289E-C317-57846852E2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037" y="745420"/>
            <a:ext cx="4296779" cy="41148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FA1DDF8-10FC-6114-2D11-C6FA4BD96B37}"/>
              </a:ext>
            </a:extLst>
          </p:cNvPr>
          <p:cNvSpPr txBox="1"/>
          <p:nvPr/>
        </p:nvSpPr>
        <p:spPr>
          <a:xfrm>
            <a:off x="464457" y="5059793"/>
            <a:ext cx="3526972" cy="1631216"/>
          </a:xfrm>
          <a:prstGeom prst="rect">
            <a:avLst/>
          </a:prstGeom>
          <a:noFill/>
        </p:spPr>
        <p:txBody>
          <a:bodyPr wrap="square">
            <a:spAutoFit/>
          </a:bodyPr>
          <a:lstStyle/>
          <a:p>
            <a:pPr algn="l" latinLnBrk="1">
              <a:buNone/>
            </a:pPr>
            <a:r>
              <a:rPr lang="en-US" sz="2000" b="0" i="0" dirty="0">
                <a:effectLst/>
                <a:latin typeface="menlo"/>
              </a:rPr>
              <a:t>cholesterol vs heart diseases</a:t>
            </a:r>
          </a:p>
          <a:p>
            <a:pPr algn="l" latinLnBrk="1">
              <a:buNone/>
            </a:pPr>
            <a:r>
              <a:rPr lang="en-US" sz="2000" b="0" i="0" dirty="0">
                <a:effectLst/>
                <a:latin typeface="menlo"/>
              </a:rPr>
              <a:t>Accuracy: 0.472527</a:t>
            </a:r>
          </a:p>
          <a:p>
            <a:pPr algn="l" latinLnBrk="1">
              <a:buNone/>
            </a:pPr>
            <a:r>
              <a:rPr lang="en-US" sz="2000" b="0" i="0" dirty="0">
                <a:effectLst/>
                <a:latin typeface="menlo"/>
              </a:rPr>
              <a:t>Precision: 0.471910</a:t>
            </a:r>
          </a:p>
          <a:p>
            <a:pPr algn="l" latinLnBrk="1">
              <a:buNone/>
            </a:pPr>
            <a:r>
              <a:rPr lang="en-US" sz="2000" b="0" i="0" dirty="0">
                <a:effectLst/>
                <a:latin typeface="menlo"/>
              </a:rPr>
              <a:t>Recall: 0.976744</a:t>
            </a:r>
          </a:p>
          <a:p>
            <a:pPr algn="l" latinLnBrk="1">
              <a:buNone/>
            </a:pPr>
            <a:r>
              <a:rPr lang="en-US" sz="2000" b="0" i="0" dirty="0">
                <a:effectLst/>
                <a:latin typeface="menlo"/>
              </a:rPr>
              <a:t>F1 Score: 0.636364</a:t>
            </a:r>
          </a:p>
        </p:txBody>
      </p:sp>
      <p:pic>
        <p:nvPicPr>
          <p:cNvPr id="3094" name="Picture 22">
            <a:extLst>
              <a:ext uri="{FF2B5EF4-FFF2-40B4-BE49-F238E27FC236}">
                <a16:creationId xmlns:a16="http://schemas.microsoft.com/office/drawing/2014/main" id="{EAD7BD84-BCAF-B302-EAC6-BDD55B31C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5616" y="745420"/>
            <a:ext cx="4296779" cy="41148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34791F1-3C9D-773A-AD69-5708590B6A7B}"/>
              </a:ext>
            </a:extLst>
          </p:cNvPr>
          <p:cNvSpPr txBox="1"/>
          <p:nvPr/>
        </p:nvSpPr>
        <p:spPr>
          <a:xfrm>
            <a:off x="6644391" y="5059793"/>
            <a:ext cx="6093500" cy="2185214"/>
          </a:xfrm>
          <a:prstGeom prst="rect">
            <a:avLst/>
          </a:prstGeom>
          <a:noFill/>
        </p:spPr>
        <p:txBody>
          <a:bodyPr wrap="square">
            <a:spAutoFit/>
          </a:bodyPr>
          <a:lstStyle/>
          <a:p>
            <a:pPr algn="l" latinLnBrk="1">
              <a:buNone/>
            </a:pPr>
            <a:r>
              <a:rPr lang="en-US" sz="2000" b="0" dirty="0">
                <a:effectLst/>
                <a:latin typeface="menlo"/>
              </a:rPr>
              <a:t>chest pain vs heart diseases</a:t>
            </a:r>
          </a:p>
          <a:p>
            <a:pPr algn="l" latinLnBrk="1">
              <a:buNone/>
            </a:pPr>
            <a:r>
              <a:rPr lang="en-US" sz="2000" b="0" dirty="0">
                <a:effectLst/>
                <a:latin typeface="menlo"/>
              </a:rPr>
              <a:t>Accuracy: 0.725275</a:t>
            </a:r>
          </a:p>
          <a:p>
            <a:pPr algn="l" latinLnBrk="1">
              <a:buNone/>
            </a:pPr>
            <a:r>
              <a:rPr lang="en-US" sz="2000" b="0" dirty="0">
                <a:effectLst/>
                <a:latin typeface="menlo"/>
              </a:rPr>
              <a:t>Precision: 0.725000</a:t>
            </a:r>
          </a:p>
          <a:p>
            <a:pPr algn="l" latinLnBrk="1">
              <a:buNone/>
            </a:pPr>
            <a:r>
              <a:rPr lang="en-US" sz="2000" b="0" dirty="0">
                <a:effectLst/>
                <a:latin typeface="menlo"/>
              </a:rPr>
              <a:t>Recall: 0.674419</a:t>
            </a:r>
          </a:p>
          <a:p>
            <a:pPr algn="l" latinLnBrk="1">
              <a:buNone/>
            </a:pPr>
            <a:r>
              <a:rPr lang="en-US" sz="2000" b="0" dirty="0">
                <a:effectLst/>
                <a:latin typeface="menlo"/>
              </a:rPr>
              <a:t>F1 Score: 0.698795</a:t>
            </a:r>
          </a:p>
          <a:p>
            <a:pPr>
              <a:buNone/>
            </a:pPr>
            <a:br>
              <a:rPr lang="en-US" dirty="0">
                <a:effectLst/>
              </a:rPr>
            </a:br>
            <a:endParaRPr lang="en-SG" dirty="0"/>
          </a:p>
        </p:txBody>
      </p:sp>
      <p:sp>
        <p:nvSpPr>
          <p:cNvPr id="2" name="TextBox 1">
            <a:extLst>
              <a:ext uri="{FF2B5EF4-FFF2-40B4-BE49-F238E27FC236}">
                <a16:creationId xmlns:a16="http://schemas.microsoft.com/office/drawing/2014/main" id="{7C0F2297-8717-99C2-B8CF-5E490CABD18B}"/>
              </a:ext>
            </a:extLst>
          </p:cNvPr>
          <p:cNvSpPr txBox="1"/>
          <p:nvPr/>
        </p:nvSpPr>
        <p:spPr>
          <a:xfrm>
            <a:off x="1683657" y="0"/>
            <a:ext cx="7018483" cy="523220"/>
          </a:xfrm>
          <a:prstGeom prst="rect">
            <a:avLst/>
          </a:prstGeom>
          <a:noFill/>
        </p:spPr>
        <p:txBody>
          <a:bodyPr wrap="square" rtlCol="0">
            <a:spAutoFit/>
          </a:bodyPr>
          <a:lstStyle/>
          <a:p>
            <a:r>
              <a:rPr lang="en-SG" sz="2800" b="1" dirty="0"/>
              <a:t>Confuse matrix for the various variables</a:t>
            </a:r>
            <a:endParaRPr lang="en-SG" b="1" dirty="0"/>
          </a:p>
        </p:txBody>
      </p:sp>
    </p:spTree>
    <p:extLst>
      <p:ext uri="{BB962C8B-B14F-4D97-AF65-F5344CB8AC3E}">
        <p14:creationId xmlns:p14="http://schemas.microsoft.com/office/powerpoint/2010/main" val="164734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411372-63EB-1987-44CC-05929613AE5D}"/>
              </a:ext>
            </a:extLst>
          </p:cNvPr>
          <p:cNvPicPr>
            <a:picLocks noChangeAspect="1"/>
          </p:cNvPicPr>
          <p:nvPr/>
        </p:nvPicPr>
        <p:blipFill>
          <a:blip r:embed="rId3"/>
          <a:stretch>
            <a:fillRect/>
          </a:stretch>
        </p:blipFill>
        <p:spPr>
          <a:xfrm>
            <a:off x="1330628" y="761820"/>
            <a:ext cx="4334632" cy="4115157"/>
          </a:xfrm>
          <a:prstGeom prst="rect">
            <a:avLst/>
          </a:prstGeom>
        </p:spPr>
      </p:pic>
      <p:sp>
        <p:nvSpPr>
          <p:cNvPr id="9" name="TextBox 8">
            <a:extLst>
              <a:ext uri="{FF2B5EF4-FFF2-40B4-BE49-F238E27FC236}">
                <a16:creationId xmlns:a16="http://schemas.microsoft.com/office/drawing/2014/main" id="{CBC19ACC-D77A-47A8-8860-EF5808B57971}"/>
              </a:ext>
            </a:extLst>
          </p:cNvPr>
          <p:cNvSpPr txBox="1"/>
          <p:nvPr/>
        </p:nvSpPr>
        <p:spPr>
          <a:xfrm>
            <a:off x="1999403" y="4876977"/>
            <a:ext cx="6096000" cy="2246769"/>
          </a:xfrm>
          <a:prstGeom prst="rect">
            <a:avLst/>
          </a:prstGeom>
          <a:noFill/>
        </p:spPr>
        <p:txBody>
          <a:bodyPr wrap="square">
            <a:spAutoFit/>
          </a:bodyPr>
          <a:lstStyle/>
          <a:p>
            <a:pPr latinLnBrk="1"/>
            <a:r>
              <a:rPr lang="en-US" sz="2400" dirty="0"/>
              <a:t>major vessel vs heart diseases</a:t>
            </a:r>
          </a:p>
          <a:p>
            <a:pPr latinLnBrk="1"/>
            <a:r>
              <a:rPr lang="en-US" sz="2400" dirty="0"/>
              <a:t>Accuracy: 0.659341</a:t>
            </a:r>
          </a:p>
          <a:p>
            <a:pPr latinLnBrk="1"/>
            <a:r>
              <a:rPr lang="en-US" sz="2400" dirty="0"/>
              <a:t>Precision: 0.585714</a:t>
            </a:r>
          </a:p>
          <a:p>
            <a:pPr latinLnBrk="1"/>
            <a:r>
              <a:rPr lang="en-US" sz="2400" dirty="0"/>
              <a:t>Recall: 0.953488</a:t>
            </a:r>
          </a:p>
          <a:p>
            <a:pPr latinLnBrk="1"/>
            <a:r>
              <a:rPr lang="en-US" sz="2400" dirty="0"/>
              <a:t>F1 Score: 0.725664</a:t>
            </a:r>
          </a:p>
          <a:p>
            <a:pPr algn="l" latinLnBrk="1">
              <a:buNone/>
            </a:pPr>
            <a:endParaRPr lang="en-US" sz="2000" b="0" i="0" dirty="0">
              <a:effectLst/>
              <a:latin typeface="menlo"/>
            </a:endParaRPr>
          </a:p>
        </p:txBody>
      </p:sp>
      <p:sp>
        <p:nvSpPr>
          <p:cNvPr id="2" name="TextBox 1">
            <a:extLst>
              <a:ext uri="{FF2B5EF4-FFF2-40B4-BE49-F238E27FC236}">
                <a16:creationId xmlns:a16="http://schemas.microsoft.com/office/drawing/2014/main" id="{BA06AFF1-52DD-2952-DE4A-73581CFE1B7D}"/>
              </a:ext>
            </a:extLst>
          </p:cNvPr>
          <p:cNvSpPr txBox="1"/>
          <p:nvPr/>
        </p:nvSpPr>
        <p:spPr>
          <a:xfrm>
            <a:off x="1683657" y="0"/>
            <a:ext cx="7018483" cy="523220"/>
          </a:xfrm>
          <a:prstGeom prst="rect">
            <a:avLst/>
          </a:prstGeom>
          <a:noFill/>
        </p:spPr>
        <p:txBody>
          <a:bodyPr wrap="square" rtlCol="0">
            <a:spAutoFit/>
          </a:bodyPr>
          <a:lstStyle/>
          <a:p>
            <a:r>
              <a:rPr lang="en-SG" sz="2800" b="1" dirty="0"/>
              <a:t>Confuse matrix for the various variables</a:t>
            </a:r>
            <a:endParaRPr lang="en-SG" b="1" dirty="0"/>
          </a:p>
        </p:txBody>
      </p:sp>
    </p:spTree>
    <p:extLst>
      <p:ext uri="{BB962C8B-B14F-4D97-AF65-F5344CB8AC3E}">
        <p14:creationId xmlns:p14="http://schemas.microsoft.com/office/powerpoint/2010/main" val="4186309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48" name="Rectangle 4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50" name="Rectangle 4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52" name="Rectangle 51">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56" name="Rectangle 55">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58" name="Rectangle 57">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60" name="Rectangle 59">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D9D56120-6B2D-DBB8-7729-F6BC35A6E347}"/>
              </a:ext>
            </a:extLst>
          </p:cNvPr>
          <p:cNvSpPr>
            <a:spLocks noGrp="1"/>
          </p:cNvSpPr>
          <p:nvPr>
            <p:ph type="ctrTitle"/>
          </p:nvPr>
        </p:nvSpPr>
        <p:spPr>
          <a:xfrm>
            <a:off x="771148" y="1037967"/>
            <a:ext cx="3054091" cy="4709131"/>
          </a:xfrm>
        </p:spPr>
        <p:txBody>
          <a:bodyPr vert="horz" lIns="91440" tIns="45720" rIns="91440" bIns="45720" rtlCol="0" anchor="ctr">
            <a:normAutofit/>
          </a:bodyPr>
          <a:lstStyle/>
          <a:p>
            <a:pPr algn="l"/>
            <a:r>
              <a:rPr lang="en-US" b="0" kern="1200" cap="all">
                <a:solidFill>
                  <a:srgbClr val="FFFEFF"/>
                </a:solidFill>
                <a:latin typeface="+mj-lt"/>
                <a:ea typeface="+mj-ea"/>
                <a:cs typeface="+mj-cs"/>
              </a:rPr>
              <a:t>Conclusion</a:t>
            </a:r>
          </a:p>
        </p:txBody>
      </p:sp>
      <p:sp>
        <p:nvSpPr>
          <p:cNvPr id="5" name="TextBox 4">
            <a:extLst>
              <a:ext uri="{FF2B5EF4-FFF2-40B4-BE49-F238E27FC236}">
                <a16:creationId xmlns:a16="http://schemas.microsoft.com/office/drawing/2014/main" id="{F0C5BD07-ABE7-7A3E-316A-E29303102E82}"/>
              </a:ext>
            </a:extLst>
          </p:cNvPr>
          <p:cNvSpPr txBox="1"/>
          <p:nvPr/>
        </p:nvSpPr>
        <p:spPr>
          <a:xfrm>
            <a:off x="4534935" y="1037968"/>
            <a:ext cx="6725899" cy="4820832"/>
          </a:xfrm>
          <a:prstGeom prst="rect">
            <a:avLst/>
          </a:prstGeom>
        </p:spPr>
        <p:txBody>
          <a:bodyPr vert="horz" lIns="91440" tIns="45720" rIns="91440" bIns="45720" rtlCol="0" anchor="ctr">
            <a:normAutofit/>
          </a:bodyPr>
          <a:lstStyle/>
          <a:p>
            <a:pPr>
              <a:spcBef>
                <a:spcPct val="20000"/>
              </a:spcBef>
              <a:spcAft>
                <a:spcPts val="600"/>
              </a:spcAft>
              <a:buClr>
                <a:schemeClr val="accent1"/>
              </a:buClr>
              <a:buSzPct val="92000"/>
              <a:buFont typeface="Wingdings 2" panose="05020102010507070707" pitchFamily="18" charset="2"/>
              <a:buChar char=""/>
            </a:pPr>
            <a:r>
              <a:rPr lang="en-US" dirty="0">
                <a:solidFill>
                  <a:schemeClr val="tx1">
                    <a:lumMod val="75000"/>
                    <a:lumOff val="25000"/>
                  </a:schemeClr>
                </a:solidFill>
              </a:rPr>
              <a:t>From the dataset, it shows that factors such as cholesterol and clogged arteries may indicate whether a patient may or may not have heart disease. </a:t>
            </a:r>
          </a:p>
          <a:p>
            <a:pPr>
              <a:spcBef>
                <a:spcPct val="20000"/>
              </a:spcBef>
              <a:spcAft>
                <a:spcPts val="600"/>
              </a:spcAft>
              <a:buClr>
                <a:schemeClr val="accent1"/>
              </a:buClr>
              <a:buSzPct val="92000"/>
              <a:buFont typeface="Wingdings 2" panose="05020102010507070707" pitchFamily="18" charset="2"/>
              <a:buChar char=""/>
            </a:pPr>
            <a:endParaRPr lang="en-US" dirty="0">
              <a:solidFill>
                <a:schemeClr val="tx1">
                  <a:lumMod val="75000"/>
                  <a:lumOff val="25000"/>
                </a:schemeClr>
              </a:solidFill>
            </a:endParaRPr>
          </a:p>
          <a:p>
            <a:pPr>
              <a:spcBef>
                <a:spcPct val="20000"/>
              </a:spcBef>
              <a:spcAft>
                <a:spcPts val="600"/>
              </a:spcAft>
              <a:buClr>
                <a:schemeClr val="accent1"/>
              </a:buClr>
              <a:buSzPct val="92000"/>
              <a:buFont typeface="Wingdings 2" panose="05020102010507070707" pitchFamily="18" charset="2"/>
              <a:buChar char=""/>
            </a:pPr>
            <a:r>
              <a:rPr lang="en-US" dirty="0">
                <a:solidFill>
                  <a:schemeClr val="tx1">
                    <a:lumMod val="75000"/>
                    <a:lumOff val="25000"/>
                  </a:schemeClr>
                </a:solidFill>
              </a:rPr>
              <a:t> The predicting model shows that the above factors have a better chance of correctly identifying patients who have the illness, as compared to chest pain, which may have a possibility of giving a false negative</a:t>
            </a:r>
          </a:p>
          <a:p>
            <a:pPr>
              <a:spcBef>
                <a:spcPct val="20000"/>
              </a:spcBef>
              <a:spcAft>
                <a:spcPts val="600"/>
              </a:spcAft>
              <a:buClr>
                <a:schemeClr val="accent1"/>
              </a:buClr>
              <a:buSzPct val="92000"/>
              <a:buFont typeface="Wingdings 2" panose="05020102010507070707" pitchFamily="18" charset="2"/>
              <a:buChar char=""/>
            </a:pPr>
            <a:endParaRPr lang="en-US" dirty="0">
              <a:solidFill>
                <a:schemeClr val="tx1">
                  <a:lumMod val="75000"/>
                  <a:lumOff val="25000"/>
                </a:schemeClr>
              </a:solidFill>
            </a:endParaRPr>
          </a:p>
          <a:p>
            <a:pPr>
              <a:spcBef>
                <a:spcPct val="20000"/>
              </a:spcBef>
              <a:spcAft>
                <a:spcPts val="600"/>
              </a:spcAft>
              <a:buClr>
                <a:schemeClr val="accent1"/>
              </a:buClr>
              <a:buSzPct val="92000"/>
              <a:buFont typeface="Wingdings 2" panose="05020102010507070707" pitchFamily="18" charset="2"/>
              <a:buChar char=""/>
            </a:pPr>
            <a:r>
              <a:rPr lang="en-US" dirty="0">
                <a:solidFill>
                  <a:schemeClr val="tx1">
                    <a:lumMod val="75000"/>
                    <a:lumOff val="25000"/>
                  </a:schemeClr>
                </a:solidFill>
              </a:rPr>
              <a:t> Lastly, these factors mentioned may result in heart diseases; it is important to have a regular health check-up.</a:t>
            </a:r>
          </a:p>
        </p:txBody>
      </p:sp>
    </p:spTree>
    <p:extLst>
      <p:ext uri="{BB962C8B-B14F-4D97-AF65-F5344CB8AC3E}">
        <p14:creationId xmlns:p14="http://schemas.microsoft.com/office/powerpoint/2010/main" val="352518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6" name="Rectangle 25">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7" name="Rectangle 26">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8" name="Rectangle 27">
            <a:extLst>
              <a:ext uri="{FF2B5EF4-FFF2-40B4-BE49-F238E27FC236}">
                <a16:creationId xmlns:a16="http://schemas.microsoft.com/office/drawing/2014/main" id="{E2852671-8EB6-4EAF-8AF8-65CF3FD66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29" name="Rectangle 28">
            <a:extLst>
              <a:ext uri="{FF2B5EF4-FFF2-40B4-BE49-F238E27FC236}">
                <a16:creationId xmlns:a16="http://schemas.microsoft.com/office/drawing/2014/main" id="{A52FF1B8-145F-47AA-9F6F-7DA3201AA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595EBB-363A-1A60-C3C1-1E11E3FEDC80}"/>
              </a:ext>
            </a:extLst>
          </p:cNvPr>
          <p:cNvSpPr>
            <a:spLocks noGrp="1"/>
          </p:cNvSpPr>
          <p:nvPr>
            <p:ph type="ctrTitle"/>
          </p:nvPr>
        </p:nvSpPr>
        <p:spPr>
          <a:xfrm>
            <a:off x="4579243" y="1419225"/>
            <a:ext cx="6798608" cy="2346136"/>
          </a:xfrm>
        </p:spPr>
        <p:txBody>
          <a:bodyPr vert="horz" lIns="91440" tIns="45720" rIns="91440" bIns="45720" rtlCol="0" anchor="b">
            <a:normAutofit/>
          </a:bodyPr>
          <a:lstStyle/>
          <a:p>
            <a:pPr algn="l"/>
            <a:r>
              <a:rPr lang="en-US" sz="4400"/>
              <a:t>Questions?</a:t>
            </a:r>
          </a:p>
        </p:txBody>
      </p:sp>
      <p:sp>
        <p:nvSpPr>
          <p:cNvPr id="30" name="Rectangle 29">
            <a:extLst>
              <a:ext uri="{FF2B5EF4-FFF2-40B4-BE49-F238E27FC236}">
                <a16:creationId xmlns:a16="http://schemas.microsoft.com/office/drawing/2014/main" id="{6DFE8A8C-8C1F-40A1-8A45-9D05B0DD8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1" name="Rectangle 30">
            <a:extLst>
              <a:ext uri="{FF2B5EF4-FFF2-40B4-BE49-F238E27FC236}">
                <a16:creationId xmlns:a16="http://schemas.microsoft.com/office/drawing/2014/main" id="{EE1EF8C3-8F8A-447D-A5FF-C124268254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2" name="Rectangle 31">
            <a:extLst>
              <a:ext uri="{FF2B5EF4-FFF2-40B4-BE49-F238E27FC236}">
                <a16:creationId xmlns:a16="http://schemas.microsoft.com/office/drawing/2014/main" id="{1B511BAF-6DC3-420A-8603-96945C66AD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pic>
        <p:nvPicPr>
          <p:cNvPr id="33" name="Graphic 32" descr="Question mark">
            <a:extLst>
              <a:ext uri="{FF2B5EF4-FFF2-40B4-BE49-F238E27FC236}">
                <a16:creationId xmlns:a16="http://schemas.microsoft.com/office/drawing/2014/main" id="{64928C92-9D8C-46EE-ADDF-806ED750BE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4700" y="2049354"/>
            <a:ext cx="3053422" cy="3053422"/>
          </a:xfrm>
          <a:prstGeom prst="rect">
            <a:avLst/>
          </a:prstGeom>
        </p:spPr>
      </p:pic>
    </p:spTree>
    <p:extLst>
      <p:ext uri="{BB962C8B-B14F-4D97-AF65-F5344CB8AC3E}">
        <p14:creationId xmlns:p14="http://schemas.microsoft.com/office/powerpoint/2010/main" val="36501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0" name="Rectangle 29">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2" name="Rectangle 31">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4" name="Rectangle 33">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36" name="Rectangle 3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821564-5732-047D-6958-FACC59A35AEF}"/>
              </a:ext>
            </a:extLst>
          </p:cNvPr>
          <p:cNvSpPr>
            <a:spLocks noGrp="1"/>
          </p:cNvSpPr>
          <p:nvPr>
            <p:ph type="ctrTitle"/>
          </p:nvPr>
        </p:nvSpPr>
        <p:spPr>
          <a:xfrm>
            <a:off x="705745" y="1005840"/>
            <a:ext cx="6828909" cy="4805025"/>
          </a:xfrm>
        </p:spPr>
        <p:txBody>
          <a:bodyPr vert="horz" lIns="91440" tIns="45720" rIns="91440" bIns="45720" rtlCol="0" anchor="ctr">
            <a:normAutofit/>
          </a:bodyPr>
          <a:lstStyle/>
          <a:p>
            <a:pPr algn="r"/>
            <a:r>
              <a:rPr lang="en-US" sz="6000" b="0" kern="1200" cap="all">
                <a:solidFill>
                  <a:schemeClr val="tx1">
                    <a:lumMod val="85000"/>
                    <a:lumOff val="15000"/>
                  </a:schemeClr>
                </a:solidFill>
                <a:latin typeface="+mj-lt"/>
                <a:ea typeface="+mj-ea"/>
                <a:cs typeface="+mj-cs"/>
              </a:rPr>
              <a:t>Thank you </a:t>
            </a:r>
          </a:p>
        </p:txBody>
      </p:sp>
      <p:sp>
        <p:nvSpPr>
          <p:cNvPr id="38" name="Rectangle 37">
            <a:extLst>
              <a:ext uri="{FF2B5EF4-FFF2-40B4-BE49-F238E27FC236}">
                <a16:creationId xmlns:a16="http://schemas.microsoft.com/office/drawing/2014/main" id="{8BEF4DBE-A60E-4AAE-9D62-1147461CD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5745" y="751211"/>
            <a:ext cx="6830568"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40" name="Rectangle 39">
            <a:extLst>
              <a:ext uri="{FF2B5EF4-FFF2-40B4-BE49-F238E27FC236}">
                <a16:creationId xmlns:a16="http://schemas.microsoft.com/office/drawing/2014/main" id="{33955649-790D-4997-9D50-C1D8E32C1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9870" y="754768"/>
            <a:ext cx="3300984"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42" name="Rectangle 41">
            <a:extLst>
              <a:ext uri="{FF2B5EF4-FFF2-40B4-BE49-F238E27FC236}">
                <a16:creationId xmlns:a16="http://schemas.microsoft.com/office/drawing/2014/main" id="{18839B1D-4A8C-403C-9D1B-B83CF1DB6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5745" y="5946475"/>
            <a:ext cx="6830568"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44" name="Rectangle 43">
            <a:extLst>
              <a:ext uri="{FF2B5EF4-FFF2-40B4-BE49-F238E27FC236}">
                <a16:creationId xmlns:a16="http://schemas.microsoft.com/office/drawing/2014/main" id="{19818AF9-99F4-4DD9-A3EB-0A3477509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9870" y="5950032"/>
            <a:ext cx="3300984"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Tree>
    <p:extLst>
      <p:ext uri="{BB962C8B-B14F-4D97-AF65-F5344CB8AC3E}">
        <p14:creationId xmlns:p14="http://schemas.microsoft.com/office/powerpoint/2010/main" val="1811180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a2f4ea7-682e-41b8-a191-716c13dba4c4" xsi:nil="true"/>
    <_activity xmlns="9a2f4ea7-682e-41b8-a191-716c13dba4c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86D2A40EE0F924286454F4981EEC2AD" ma:contentTypeVersion="17" ma:contentTypeDescription="Create a new document." ma:contentTypeScope="" ma:versionID="41e1137ff203899d0efc56edc1bb3b85">
  <xsd:schema xmlns:xsd="http://www.w3.org/2001/XMLSchema" xmlns:xs="http://www.w3.org/2001/XMLSchema" xmlns:p="http://schemas.microsoft.com/office/2006/metadata/properties" xmlns:ns3="9a2f4ea7-682e-41b8-a191-716c13dba4c4" xmlns:ns4="c2eadfbf-2c83-4e34-a3f8-0a5643e40a93" targetNamespace="http://schemas.microsoft.com/office/2006/metadata/properties" ma:root="true" ma:fieldsID="eb3d0dc26a5b2d0c7780ea969bf27ebb" ns3:_="" ns4:_="">
    <xsd:import namespace="9a2f4ea7-682e-41b8-a191-716c13dba4c4"/>
    <xsd:import namespace="c2eadfbf-2c83-4e34-a3f8-0a5643e40a93"/>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2f4ea7-682e-41b8-a191-716c13dba4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2eadfbf-2c83-4e34-a3f8-0a5643e40a9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D1F84C-D1FD-4B1B-9CFD-8E0D96AC4DF2}">
  <ds:schemaRefs>
    <ds:schemaRef ds:uri="http://schemas.microsoft.com/sharepoint/v3/contenttype/forms"/>
  </ds:schemaRefs>
</ds:datastoreItem>
</file>

<file path=customXml/itemProps2.xml><?xml version="1.0" encoding="utf-8"?>
<ds:datastoreItem xmlns:ds="http://schemas.openxmlformats.org/officeDocument/2006/customXml" ds:itemID="{5A00B2AC-C335-4100-B8B3-2D9F49A72906}">
  <ds:schemaRefs>
    <ds:schemaRef ds:uri="http://schemas.microsoft.com/office/2006/documentManagement/types"/>
    <ds:schemaRef ds:uri="http://schemas.openxmlformats.org/package/2006/metadata/core-properties"/>
    <ds:schemaRef ds:uri="9a2f4ea7-682e-41b8-a191-716c13dba4c4"/>
    <ds:schemaRef ds:uri="http://purl.org/dc/terms/"/>
    <ds:schemaRef ds:uri="http://schemas.microsoft.com/office/infopath/2007/PartnerControls"/>
    <ds:schemaRef ds:uri="c2eadfbf-2c83-4e34-a3f8-0a5643e40a93"/>
    <ds:schemaRef ds:uri="http://www.w3.org/XML/1998/namespace"/>
    <ds:schemaRef ds:uri="http://schemas.microsoft.com/office/2006/metadata/properties"/>
    <ds:schemaRef ds:uri="http://purl.org/dc/dcmitype/"/>
    <ds:schemaRef ds:uri="http://purl.org/dc/elements/1.1/"/>
  </ds:schemaRefs>
</ds:datastoreItem>
</file>

<file path=customXml/itemProps3.xml><?xml version="1.0" encoding="utf-8"?>
<ds:datastoreItem xmlns:ds="http://schemas.openxmlformats.org/officeDocument/2006/customXml" ds:itemID="{A75A3818-9250-4649-A6C3-21F533AE3C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2f4ea7-682e-41b8-a191-716c13dba4c4"/>
    <ds:schemaRef ds:uri="c2eadfbf-2c83-4e34-a3f8-0a5643e40a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b793201-bed7-4ad0-b265-3e6b41c2f5b7}" enabled="0" method="" siteId="{8b793201-bed7-4ad0-b265-3e6b41c2f5b7}" removed="1"/>
</clbl:labelList>
</file>

<file path=docProps/app.xml><?xml version="1.0" encoding="utf-8"?>
<Properties xmlns="http://schemas.openxmlformats.org/officeDocument/2006/extended-properties" xmlns:vt="http://schemas.openxmlformats.org/officeDocument/2006/docPropsVTypes">
  <Template>Dividend design</Template>
  <TotalTime>400</TotalTime>
  <Words>965</Words>
  <Application>Microsoft Office PowerPoint</Application>
  <PresentationFormat>Widescreen</PresentationFormat>
  <Paragraphs>78</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menlo</vt:lpstr>
      <vt:lpstr>Arial</vt:lpstr>
      <vt:lpstr>Calibri</vt:lpstr>
      <vt:lpstr>Gill Sans MT</vt:lpstr>
      <vt:lpstr>Wingdings 2</vt:lpstr>
      <vt:lpstr>DividendVTI</vt:lpstr>
      <vt:lpstr> heart Diseases patient's dataset</vt:lpstr>
      <vt:lpstr>Agenda </vt:lpstr>
      <vt:lpstr>Finding from the dataset</vt:lpstr>
      <vt:lpstr>PowerPoint Presentation</vt:lpstr>
      <vt:lpstr>PowerPoint Presentation</vt:lpstr>
      <vt:lpstr>PowerPoint Presentation</vt:lpstr>
      <vt:lpstr>PowerPoint Presentation</vt:lpstr>
      <vt:lpstr>Conclusion</vt:lpstr>
      <vt:lpstr>Questions?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ZHUO YUXIANG (SST)</dc:creator>
  <cp:lastModifiedBy># ZHUO YUXIANG (SST)</cp:lastModifiedBy>
  <cp:revision>2</cp:revision>
  <dcterms:created xsi:type="dcterms:W3CDTF">2025-12-22T09:44:15Z</dcterms:created>
  <dcterms:modified xsi:type="dcterms:W3CDTF">2025-12-23T04:58:03Z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0x010100186D2A40EE0F924286454F4981EEC2AD</vt:lpwstr>
  </property>
</Properties>
</file>